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2" r:id="rId7"/>
    <p:sldId id="264" r:id="rId8"/>
    <p:sldId id="268" r:id="rId9"/>
    <p:sldId id="269" r:id="rId10"/>
    <p:sldId id="270" r:id="rId11"/>
    <p:sldId id="266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8100B-8F57-4C7D-914E-BE38198A59E0}" v="7" dt="2026-05-17T13:17:51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356" autoAdjust="0"/>
  </p:normalViewPr>
  <p:slideViewPr>
    <p:cSldViewPr snapToGrid="0">
      <p:cViewPr varScale="1">
        <p:scale>
          <a:sx n="46" d="100"/>
          <a:sy n="46" d="100"/>
        </p:scale>
        <p:origin x="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RIO LEOTE" userId="f2385bf78fd660e6" providerId="LiveId" clId="{3A2B83B4-759C-4752-9FCD-F6756DEAB655}"/>
    <pc:docChg chg="modSld">
      <pc:chgData name="ROSARIO LEOTE" userId="f2385bf78fd660e6" providerId="LiveId" clId="{3A2B83B4-759C-4752-9FCD-F6756DEAB655}" dt="2026-05-17T13:16:45.300" v="15"/>
      <pc:docMkLst>
        <pc:docMk/>
      </pc:docMkLst>
      <pc:sldChg chg="modSp mod">
        <pc:chgData name="ROSARIO LEOTE" userId="f2385bf78fd660e6" providerId="LiveId" clId="{3A2B83B4-759C-4752-9FCD-F6756DEAB655}" dt="2026-05-17T13:14:48.069" v="1"/>
        <pc:sldMkLst>
          <pc:docMk/>
          <pc:sldMk cId="3489668183" sldId="258"/>
        </pc:sldMkLst>
        <pc:spChg chg="mod">
          <ac:chgData name="ROSARIO LEOTE" userId="f2385bf78fd660e6" providerId="LiveId" clId="{3A2B83B4-759C-4752-9FCD-F6756DEAB655}" dt="2026-05-17T13:14:48.069" v="1"/>
          <ac:spMkLst>
            <pc:docMk/>
            <pc:sldMk cId="3489668183" sldId="258"/>
            <ac:spMk id="3" creationId="{15412611-9DB2-A2FD-37C9-C2E892B8255D}"/>
          </ac:spMkLst>
        </pc:spChg>
      </pc:sldChg>
      <pc:sldChg chg="modSp mod">
        <pc:chgData name="ROSARIO LEOTE" userId="f2385bf78fd660e6" providerId="LiveId" clId="{3A2B83B4-759C-4752-9FCD-F6756DEAB655}" dt="2026-05-17T13:15:23.175" v="5"/>
        <pc:sldMkLst>
          <pc:docMk/>
          <pc:sldMk cId="2465876566" sldId="259"/>
        </pc:sldMkLst>
        <pc:spChg chg="mod">
          <ac:chgData name="ROSARIO LEOTE" userId="f2385bf78fd660e6" providerId="LiveId" clId="{3A2B83B4-759C-4752-9FCD-F6756DEAB655}" dt="2026-05-17T13:15:12.959" v="4"/>
          <ac:spMkLst>
            <pc:docMk/>
            <pc:sldMk cId="2465876566" sldId="259"/>
            <ac:spMk id="3" creationId="{61ACD000-1940-3A0A-3495-F5DD84B617B3}"/>
          </ac:spMkLst>
        </pc:spChg>
        <pc:spChg chg="mod">
          <ac:chgData name="ROSARIO LEOTE" userId="f2385bf78fd660e6" providerId="LiveId" clId="{3A2B83B4-759C-4752-9FCD-F6756DEAB655}" dt="2026-05-17T13:15:23.175" v="5"/>
          <ac:spMkLst>
            <pc:docMk/>
            <pc:sldMk cId="2465876566" sldId="259"/>
            <ac:spMk id="4" creationId="{00000000-0000-0000-0000-000000000000}"/>
          </ac:spMkLst>
        </pc:spChg>
      </pc:sldChg>
      <pc:sldChg chg="modSp mod">
        <pc:chgData name="ROSARIO LEOTE" userId="f2385bf78fd660e6" providerId="LiveId" clId="{3A2B83B4-759C-4752-9FCD-F6756DEAB655}" dt="2026-05-17T13:15:04.757" v="3"/>
        <pc:sldMkLst>
          <pc:docMk/>
          <pc:sldMk cId="330683344" sldId="261"/>
        </pc:sldMkLst>
        <pc:spChg chg="mod">
          <ac:chgData name="ROSARIO LEOTE" userId="f2385bf78fd660e6" providerId="LiveId" clId="{3A2B83B4-759C-4752-9FCD-F6756DEAB655}" dt="2026-05-17T13:14:56.853" v="2"/>
          <ac:spMkLst>
            <pc:docMk/>
            <pc:sldMk cId="330683344" sldId="261"/>
            <ac:spMk id="2" creationId="{3C89D471-B39B-7FBD-9836-A9A1EDD5E172}"/>
          </ac:spMkLst>
        </pc:spChg>
        <pc:spChg chg="mod">
          <ac:chgData name="ROSARIO LEOTE" userId="f2385bf78fd660e6" providerId="LiveId" clId="{3A2B83B4-759C-4752-9FCD-F6756DEAB655}" dt="2026-05-17T13:15:04.757" v="3"/>
          <ac:spMkLst>
            <pc:docMk/>
            <pc:sldMk cId="330683344" sldId="261"/>
            <ac:spMk id="10" creationId="{EDCCA609-D6E6-CDB2-6BF7-3439837593DA}"/>
          </ac:spMkLst>
        </pc:spChg>
      </pc:sldChg>
      <pc:sldChg chg="modSp mod">
        <pc:chgData name="ROSARIO LEOTE" userId="f2385bf78fd660e6" providerId="LiveId" clId="{3A2B83B4-759C-4752-9FCD-F6756DEAB655}" dt="2026-05-17T13:15:42.052" v="7"/>
        <pc:sldMkLst>
          <pc:docMk/>
          <pc:sldMk cId="2265709929" sldId="262"/>
        </pc:sldMkLst>
        <pc:spChg chg="mod">
          <ac:chgData name="ROSARIO LEOTE" userId="f2385bf78fd660e6" providerId="LiveId" clId="{3A2B83B4-759C-4752-9FCD-F6756DEAB655}" dt="2026-05-17T13:15:33.419" v="6"/>
          <ac:spMkLst>
            <pc:docMk/>
            <pc:sldMk cId="2265709929" sldId="262"/>
            <ac:spMk id="2" creationId="{B31B591C-BE2F-B5CB-565D-BE4348950B53}"/>
          </ac:spMkLst>
        </pc:spChg>
        <pc:spChg chg="mod">
          <ac:chgData name="ROSARIO LEOTE" userId="f2385bf78fd660e6" providerId="LiveId" clId="{3A2B83B4-759C-4752-9FCD-F6756DEAB655}" dt="2026-05-17T13:15:42.052" v="7"/>
          <ac:spMkLst>
            <pc:docMk/>
            <pc:sldMk cId="2265709929" sldId="262"/>
            <ac:spMk id="10" creationId="{CA4124ED-BE58-7407-3E0A-55865817458C}"/>
          </ac:spMkLst>
        </pc:spChg>
      </pc:sldChg>
      <pc:sldChg chg="modSp mod">
        <pc:chgData name="ROSARIO LEOTE" userId="f2385bf78fd660e6" providerId="LiveId" clId="{3A2B83B4-759C-4752-9FCD-F6756DEAB655}" dt="2026-05-17T13:15:57.908" v="9"/>
        <pc:sldMkLst>
          <pc:docMk/>
          <pc:sldMk cId="2396432876" sldId="264"/>
        </pc:sldMkLst>
        <pc:spChg chg="mod">
          <ac:chgData name="ROSARIO LEOTE" userId="f2385bf78fd660e6" providerId="LiveId" clId="{3A2B83B4-759C-4752-9FCD-F6756DEAB655}" dt="2026-05-17T13:15:50.007" v="8"/>
          <ac:spMkLst>
            <pc:docMk/>
            <pc:sldMk cId="2396432876" sldId="264"/>
            <ac:spMk id="2" creationId="{20BCBB4B-0170-1A3C-98EB-8C1FDF966456}"/>
          </ac:spMkLst>
        </pc:spChg>
        <pc:spChg chg="mod">
          <ac:chgData name="ROSARIO LEOTE" userId="f2385bf78fd660e6" providerId="LiveId" clId="{3A2B83B4-759C-4752-9FCD-F6756DEAB655}" dt="2026-05-17T13:15:57.908" v="9"/>
          <ac:spMkLst>
            <pc:docMk/>
            <pc:sldMk cId="2396432876" sldId="264"/>
            <ac:spMk id="10" creationId="{BFA165D5-8B7C-1A38-CBF4-9A72A562EDED}"/>
          </ac:spMkLst>
        </pc:spChg>
      </pc:sldChg>
      <pc:sldChg chg="modSp mod">
        <pc:chgData name="ROSARIO LEOTE" userId="f2385bf78fd660e6" providerId="LiveId" clId="{3A2B83B4-759C-4752-9FCD-F6756DEAB655}" dt="2026-05-17T13:16:13.223" v="11"/>
        <pc:sldMkLst>
          <pc:docMk/>
          <pc:sldMk cId="2388178676" sldId="268"/>
        </pc:sldMkLst>
        <pc:spChg chg="mod">
          <ac:chgData name="ROSARIO LEOTE" userId="f2385bf78fd660e6" providerId="LiveId" clId="{3A2B83B4-759C-4752-9FCD-F6756DEAB655}" dt="2026-05-17T13:16:05.409" v="10"/>
          <ac:spMkLst>
            <pc:docMk/>
            <pc:sldMk cId="2388178676" sldId="268"/>
            <ac:spMk id="2" creationId="{E0F9A062-BF57-A0DF-E7C7-11063C15DB34}"/>
          </ac:spMkLst>
        </pc:spChg>
        <pc:spChg chg="mod">
          <ac:chgData name="ROSARIO LEOTE" userId="f2385bf78fd660e6" providerId="LiveId" clId="{3A2B83B4-759C-4752-9FCD-F6756DEAB655}" dt="2026-05-17T13:16:13.223" v="11"/>
          <ac:spMkLst>
            <pc:docMk/>
            <pc:sldMk cId="2388178676" sldId="268"/>
            <ac:spMk id="10" creationId="{D9A929DF-6A67-914D-D8C7-E1DC12F30108}"/>
          </ac:spMkLst>
        </pc:spChg>
      </pc:sldChg>
      <pc:sldChg chg="modSp mod">
        <pc:chgData name="ROSARIO LEOTE" userId="f2385bf78fd660e6" providerId="LiveId" clId="{3A2B83B4-759C-4752-9FCD-F6756DEAB655}" dt="2026-05-17T13:16:28.056" v="13"/>
        <pc:sldMkLst>
          <pc:docMk/>
          <pc:sldMk cId="251851279" sldId="269"/>
        </pc:sldMkLst>
        <pc:spChg chg="mod">
          <ac:chgData name="ROSARIO LEOTE" userId="f2385bf78fd660e6" providerId="LiveId" clId="{3A2B83B4-759C-4752-9FCD-F6756DEAB655}" dt="2026-05-17T13:16:20.323" v="12"/>
          <ac:spMkLst>
            <pc:docMk/>
            <pc:sldMk cId="251851279" sldId="269"/>
            <ac:spMk id="2" creationId="{14E50F61-054F-662E-0DF9-E2246F4FAF2A}"/>
          </ac:spMkLst>
        </pc:spChg>
        <pc:spChg chg="mod">
          <ac:chgData name="ROSARIO LEOTE" userId="f2385bf78fd660e6" providerId="LiveId" clId="{3A2B83B4-759C-4752-9FCD-F6756DEAB655}" dt="2026-05-17T13:16:28.056" v="13"/>
          <ac:spMkLst>
            <pc:docMk/>
            <pc:sldMk cId="251851279" sldId="269"/>
            <ac:spMk id="10" creationId="{DC750486-2F8A-7E80-559D-6F2A632EEE42}"/>
          </ac:spMkLst>
        </pc:spChg>
      </pc:sldChg>
      <pc:sldChg chg="modSp mod">
        <pc:chgData name="ROSARIO LEOTE" userId="f2385bf78fd660e6" providerId="LiveId" clId="{3A2B83B4-759C-4752-9FCD-F6756DEAB655}" dt="2026-05-17T13:16:45.300" v="15"/>
        <pc:sldMkLst>
          <pc:docMk/>
          <pc:sldMk cId="678844019" sldId="270"/>
        </pc:sldMkLst>
        <pc:spChg chg="mod">
          <ac:chgData name="ROSARIO LEOTE" userId="f2385bf78fd660e6" providerId="LiveId" clId="{3A2B83B4-759C-4752-9FCD-F6756DEAB655}" dt="2026-05-17T13:16:35.866" v="14"/>
          <ac:spMkLst>
            <pc:docMk/>
            <pc:sldMk cId="678844019" sldId="270"/>
            <ac:spMk id="2" creationId="{802A0D1A-8BA2-1C61-20D1-7AE0F615B89F}"/>
          </ac:spMkLst>
        </pc:spChg>
        <pc:spChg chg="mod">
          <ac:chgData name="ROSARIO LEOTE" userId="f2385bf78fd660e6" providerId="LiveId" clId="{3A2B83B4-759C-4752-9FCD-F6756DEAB655}" dt="2026-05-17T13:16:45.300" v="15"/>
          <ac:spMkLst>
            <pc:docMk/>
            <pc:sldMk cId="678844019" sldId="270"/>
            <ac:spMk id="10" creationId="{7C6CC556-D764-617C-45D4-3041E6984B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F0D91-5E84-4100-87FF-9F310E6374EF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46DD0E-163E-44E4-B288-5034DB5C46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0667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Portugal possui vários recursos naturais importantes, mas a sua gestão enfrenta desafios específicos ligados ao clima, ao território e ao uso humano. Neste </a:t>
            </a:r>
            <a:r>
              <a:rPr lang="pt-P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submódulo</a:t>
            </a:r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vamos observar os principais recursos do país e os problemas que se colocam à sua preservação.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846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ambiente tem influência direta na qualidade de vida porque condiciona a saúde, o conforto, a segurança e o bem-estar das pessoas. Um ambiente limpo, equilibrado e organizado favorece melhores condições de vida, enquanto um ambiente degradado cria riscos e desconforto.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5984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qualidade de vida depende de vários fatores ambientais, como ar limpo, água segura, solo saudável, espaços verdes e ausência de poluição excessiva. Estes elementos são fundamentais para que as pessoas vivam com mais saúde e menos stress.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922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poluição, o ruído, os resíduos acumulados, o mau cheiro e a ocupação desordenada do território reduzem o bem-estar. Estes fatores afetam tanto a saúde física como a forma como as pessoas vivem e usam o espaço.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514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 em espaços agradáveis e equilibrados contribui para o bem-estar psicológico. Pelo contrário, ambientes degradados podem aumentar stress, desconforto e sensação de insegurança, mostrando que ambiente e saúde mental também estão ligados.</a:t>
            </a:r>
          </a:p>
          <a:p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9872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E911-EDAB-E552-55F8-4DBA99ED5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537EF1F-80FC-8E75-FCDB-0E614D625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9CF162E-DAA9-C6C0-49F8-12F8C4B75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Viver em espaços agradáveis e equilibrados contribui para o bem-estar psicológico. Pelo contrário, ambientes degradados podem aumentar stress, desconforto e sensação de insegurança, mostrando que ambiente e saúde mental também estão ligados.</a:t>
            </a:r>
          </a:p>
          <a:p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2032BE5-586B-3C2F-5213-35E5BCEC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22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C1C-9463-6E95-2FBE-CF9D4F6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F02CCCD2-677D-EF3A-98AD-8A984FA37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DBF4E69-37EF-EA4E-3FC2-187F6080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estado do espaço comum reflete os hábitos da comunidade. Quando as pessoas cuidam do ambiente, melhoram a convivência, reduzem riscos e reforçam o sentido de responsabilidade partilhada.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388474-8517-12EA-8F63-1DDED3865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458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348-9308-A47A-2633-96EEE993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331DDBBE-21F2-BA3D-EE4C-4EB5E839B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8625CEF2-59D1-AE7A-4778-59BFBD18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Melhorar a qualidade de vida exige reduzir poluição, valorizar espaços verdes, gerir bem os resíduos e promover mobilidade e consumo mais sustentáveis. </a:t>
            </a:r>
            <a:r>
              <a:rPr lang="pt-P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Essas ações beneficiam simultaneamente as pessoas e o território.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557EE2F-1878-F4C5-F927-0923F12A7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6DD0E-163E-44E4-B288-5034DB5C46A2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1076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BD4F6-665D-C565-B969-7BA0081A6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71374A-4B5D-F83A-6ECA-C1F2213C1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F5E4B9-C825-D9FA-7490-C82A313A6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3F2105-8623-618A-4032-FF9DF6EF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B532C0-1914-A1DA-BD66-4A538F2D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045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8C28-DBAA-680C-A1CE-C3748A07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3609C15-5676-0555-E0AE-FD273E230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CB76FF-EBD0-AFB3-64CC-F96ECF45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61494F-2872-8389-7375-575D5EA8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EDACCD2-9056-11C0-FC4A-BC9ECD04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546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B74-4F06-26F1-9198-53BA66F7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486DF7-C426-313F-3519-092E1A416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C2E44C3-36EB-D6D6-FEA5-7B4DB3E28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DD90168-07C1-1474-727A-E66F82C1F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2C0E298-E12E-8146-EB17-C6DB7F05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629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0C9E-DDDA-C3F6-9965-D7526BBD0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AF9DAE-3620-8B7C-594E-DC582EF9B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EC8D5AF8-E38C-F6C4-8071-A9403396E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A93EE3E-01FD-D09E-B5D2-755802AD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8F7F353-F30C-76A4-4BAC-C66D387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616A56F-EA68-98B4-6667-D2A85CA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88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F62C0-B84C-7AA4-80D2-BB3F64F6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2C0224-D2C6-C426-F92E-333CA76B1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CC57A6D-BE68-9195-36B7-10140C58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451B2A1-322B-5C34-18F6-D29BF38B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1D7888A-FBF9-4269-215B-3D6B7E2BB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052F3F1-9E10-F669-E236-3B6C7A28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8DC4208-DD27-B809-23D5-1B6C7E003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423842F-6F29-1796-8E10-C216CB41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606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3BA9F-A2BF-D951-CBBB-69F7453E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9E2FDE71-99FD-FDEF-F0ED-0E92C00F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17EB9B9-1307-D7D5-6488-CC8605EA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6AEB52-8BF0-8F61-E968-F70DF243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8052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1CF4151-5ACC-A2F0-79D2-2B8419CD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C0B17BD8-176E-192B-8A27-16D8D7F8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4BFC861-2E89-7E44-B9E3-7240CFD5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852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12788-76E2-F2DC-54C8-0CBE0A3CB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6074455-F5D3-ED98-061C-4DA94CEA9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7F8AAA8-600D-B2B1-CDA8-C9254E023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95F9A86-EE8E-94B6-4E86-0192BF17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D14C43-80DA-2C81-BD6D-A2CA0A33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4F7CDAA-FFD7-9FF1-89F3-1B1856BA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46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8D237-C0BF-0B07-5EE8-AC8C42E34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93C7E5-52E0-7F37-2179-035D3F6FA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F6ECD01-24CE-F199-108A-7520CD9C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24B1954-D981-BDB9-B4B9-84484535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5632EB5-68CB-BD04-AFC4-FFFE34FC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11BE9C3-C062-1D50-280E-37BB9029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364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05167-FB00-EC4D-22E3-7EE7484B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67419CF-5AF8-FBEA-D8A9-0A85EC867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9833D5-DAD6-7769-F78E-5859405E7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005B0EF-8626-AEE5-916E-D23A40E0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50170A-C017-C5B2-EA4D-09F20EA39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291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6B4C60-FBEE-95F0-903B-EE3941B54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5B3CF95-11CD-165E-97FB-A7EFB5FCB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A967C3F-059B-B8D5-9928-1935675E5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3D9951-F0E2-D43C-41E8-A5E13E9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9D351C4-680E-A714-5CEF-BAE67D8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80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6E12B4E-744D-DBEA-3DEA-37FB9FD11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DDDBED6-D6E3-FD9D-BDEA-33D33EE53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EC2FA9-2333-161B-8179-FE1A74792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1024D-7E45-4C89-B49D-30FEF0B9BFA0}" type="datetimeFigureOut">
              <a:rPr lang="pt-PT" smtClean="0"/>
              <a:t>17/05/2026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6685B44-2A3C-79D4-76A0-5100A61CE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0750C4E-DD3A-661D-2CE0-746A09EF4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CFBC2-2F75-421F-853B-9E274D1003A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08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rea.apambiente.pt/content/%C3%ADndice-de-qualidade-do-a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apambiente.pt/sites/default/files/_A_APA/Comunicacao/Destaques/2024/REA%202024/rea_2024_destaques.pdf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hyperlink" Target="https://www.dge.mec.pt/sustentabilidade-para-educacao-ambiental" TargetMode="External"/><Relationship Id="rId4" Type="http://schemas.openxmlformats.org/officeDocument/2006/relationships/hyperlink" Target="https://tvi.iol.pt/noticias/sociedade/poluicao/dgs-avisa-cuidado-com-a-exposicao-ao-ar-liv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8928F-D26F-4F10-F895-89ABCC24E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>
                <a:solidFill>
                  <a:schemeClr val="tx1"/>
                </a:solidFill>
              </a:rPr>
              <a:t>STC2 - Sistemas Ambientais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A376F4-1DC4-14EB-DEBD-C80BA59A1A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Formadora: Rosário Leote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084EC2-9B6D-169B-D93B-E92C87F28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A889C3-CCA9-0FD9-5745-AEF0EDA78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9E14323-1DC1-AA3C-14B1-414C074CB1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2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BAA00-D611-8551-8DEB-9F3A23A0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Módulo 6 – </a:t>
            </a:r>
            <a:br>
              <a:rPr lang="pt-PT" b="1" dirty="0">
                <a:solidFill>
                  <a:schemeClr val="tx1"/>
                </a:solidFill>
              </a:rPr>
            </a:br>
            <a:r>
              <a:rPr lang="pt-PT" b="1" dirty="0">
                <a:solidFill>
                  <a:schemeClr val="tx1"/>
                </a:solidFill>
              </a:rPr>
              <a:t>Problemas ambientais e impactos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5412611-9DB2-A2FD-37C9-C2E892B82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3600" b="1" dirty="0">
                <a:solidFill>
                  <a:srgbClr val="2C5F2D"/>
                </a:solidFill>
                <a:latin typeface="Calibri"/>
              </a:rPr>
              <a:t>6.5: Ambiente e qualidade de vida</a:t>
            </a:r>
            <a:endParaRPr lang="pt-PT" sz="4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6A2333-4495-319F-5EAB-8CC71E003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247A84D-0B52-A363-296B-F7AE06F8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075FAB-5238-3E0B-8518-F0AAB41711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ADC-2818-FBAC-771A-E42D299F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Objetivos de aprendizagem</a:t>
            </a:r>
            <a:endParaRPr lang="pt-PT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Definir energia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Utilização da energia</a:t>
            </a:r>
            <a:endParaRPr lang="pt-PT" sz="1000" i="1" dirty="0">
              <a:solidFill>
                <a:srgbClr val="666666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E7DF09-0360-CA08-F1BE-2489C6937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37E5421-A558-8D8B-AA8B-28BCCB188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EBA5D22-D96A-63CA-E62C-17C0EC3470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03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7547-D67C-AE2E-6EF8-028C0AFE3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D471-B39B-7FBD-9836-A9A1EDD5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Relação entre ambiente e qualidade de vida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CCA609-D6E6-CDB2-6BF7-3439837593DA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Um ambiente saudável melhora a vida das pessoas.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O bem-estar depende do ar, água, solo e espaço urbano.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5735F6-C527-56C5-8628-69B262CB6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C94284-CE14-61E7-B020-F90F9681A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ADBA27-D966-9E39-65C0-8A61644B6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3E1E4DB8-E1B6-66F0-0D64-E44615C5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PT" dirty="0"/>
          </a:p>
        </p:txBody>
      </p:sp>
      <p:sp>
        <p:nvSpPr>
          <p:cNvPr id="4" name="TextBox 10"/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Saúde.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Segurança.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Conforto.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Acesso a espaços limpos e verdes.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52DB2A-B059-39E7-5F98-D51921E2E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B0810A-8196-156B-2B7E-D370D99D23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5DDE1A6-A361-C4C5-1F99-C4632BF0A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1ACD000-1940-3A0A-3495-F5DD84B617B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PT" b="1" dirty="0"/>
              <a:t>Elementos da qualidade de vida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5876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2F105-28A9-AE26-FF9C-6536733F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B591C-BE2F-B5CB-565D-BE434895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O que prejudica a qualidade de vida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A4124ED-BE58-7407-3E0A-55865817458C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pt-PT"/>
            </a:defPPr>
            <a:lvl1pPr>
              <a:defRPr sz="1600" b="1">
                <a:solidFill>
                  <a:srgbClr val="2C5F2D"/>
                </a:solidFill>
                <a:latin typeface="Calibri"/>
              </a:defRPr>
            </a:lvl1pPr>
          </a:lstStyle>
          <a:p>
            <a:r>
              <a:rPr lang="pt-PT" dirty="0"/>
              <a:t>Poluição.</a:t>
            </a:r>
          </a:p>
          <a:p>
            <a:endParaRPr lang="pt-PT" dirty="0"/>
          </a:p>
          <a:p>
            <a:r>
              <a:rPr lang="pt-PT" dirty="0"/>
              <a:t>Ruído.</a:t>
            </a:r>
          </a:p>
          <a:p>
            <a:endParaRPr lang="pt-PT" dirty="0"/>
          </a:p>
          <a:p>
            <a:r>
              <a:rPr lang="pt-PT" dirty="0"/>
              <a:t>Lixo.</a:t>
            </a:r>
          </a:p>
          <a:p>
            <a:endParaRPr lang="pt-PT" dirty="0"/>
          </a:p>
          <a:p>
            <a:r>
              <a:rPr lang="pt-PT" dirty="0"/>
              <a:t>Má gestão do território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9F61B-2E08-59C0-2CB0-F8A3B93B8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491050-E282-A8AA-22E5-7B3B2105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16DB8F-2AAC-D8B7-43FA-A88DEB973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F0A3-489F-22CF-B79D-193E1290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CBB4B-0170-1A3C-98EB-8C1FDF96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Ambiente e saúde mental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FA165D5-8B7C-1A38-CBF4-9A72A562EDED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Espaços agradáveis ajudam o bem-estar psicológico.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Ambientes degradados aumentam stress e desconforto.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872E3-7358-194D-F243-C5CD79797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5E55B83-8B71-8061-8817-B030D4A41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F669F43-147A-075B-B8A8-437256868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3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22E-6A6A-91B2-EC91-4A8E4520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9A062-BF57-A0DF-E7C7-11063C15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Ambiente e trabalho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9A929DF-6A67-914D-D8C7-E1DC12F30108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Ambientes limpos e organizados são mais seguros e produtivos.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A qualidade ambiental afeta também o local de trabalho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011852-950B-7AF7-C8D0-2D72921E7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9F5298C-3837-5F61-5C47-2F3BC0747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FC22235-6708-C707-8961-8528061CC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7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71E96-5D8F-9852-12A3-45B2A263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50F61-054F-662E-0DF9-E2246F4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Ambiente e comunidade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C750486-2F8A-7E80-559D-6F2A632EEE4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O espaço comum reflete hábitos coletivos.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Cuidar do ambiente melhora a convivência social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A63434-0F9E-F56B-6D52-3FD3C40FA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4A7A0E-AE31-919F-FA56-8F3220D13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642C67D-AB0F-184F-B150-CAF21B1CE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126E-7B58-C5C0-0438-5AB05B4A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A0D1A-8BA2-1C61-20D1-7AE0F615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Melhorar a qualidade de vida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6CC556-D764-617C-45D4-3041E6984B06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Reduzir poluição.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Valorizar espaços verdes.</a:t>
            </a: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r>
              <a:rPr lang="pt-PT" sz="1600" b="1" dirty="0">
                <a:solidFill>
                  <a:srgbClr val="2C5F2D"/>
                </a:solidFill>
                <a:latin typeface="Calibri"/>
              </a:rPr>
              <a:t>Promover mobilidade e consumo sustentáveis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0583FB8-6878-3D6F-6ADA-082DD199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7EBCE08-0C9F-DD4A-A19D-6A29B1291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3EB1063-F4CA-F819-289E-7E6D49658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32C73-9BAB-84A2-0896-A89B691C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33CC-3276-4FC8-3A62-2A0372D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b="1" dirty="0">
                <a:solidFill>
                  <a:schemeClr val="tx1"/>
                </a:solidFill>
              </a:rPr>
              <a:t>Fontes</a:t>
            </a:r>
            <a:endParaRPr lang="pt-PT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15C76C-59A1-3C65-623D-14576AABCEB2}"/>
              </a:ext>
            </a:extLst>
          </p:cNvPr>
          <p:cNvSpPr txBox="1"/>
          <p:nvPr/>
        </p:nvSpPr>
        <p:spPr>
          <a:xfrm>
            <a:off x="914400" y="1828800"/>
            <a:ext cx="10363200" cy="3810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APA Agência Portuguesa do Ambiente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2"/>
              </a:rPr>
              <a:t>https://apambiente.pt/sites/default/files/_A_APA/Comunicacao/Destaques/2024/REA%202024/rea_2024_destaques.pdf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3"/>
              </a:rPr>
              <a:t>https://rea.apambiente.pt/content/%C3%ADndice-de-qualidade-do-ar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DGS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4"/>
              </a:rPr>
              <a:t>https://tvi.iol.pt/noticias/sociedade/poluicao/dgs-avisa-cuidado-com-a-exposicao-ao-ar-livre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</a:rPr>
              <a:t>DGE</a:t>
            </a:r>
          </a:p>
          <a:p>
            <a:r>
              <a:rPr lang="pt-PT" sz="1600" b="1" dirty="0">
                <a:solidFill>
                  <a:srgbClr val="2C5F2D"/>
                </a:solidFill>
                <a:latin typeface="Calibri"/>
                <a:hlinkClick r:id="rId5"/>
              </a:rPr>
              <a:t>https://www.dge.mec.pt/sustentabilidade-para-educacao-ambiental</a:t>
            </a:r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  <a:p>
            <a:pPr algn="l"/>
            <a:endParaRPr lang="pt-PT" sz="1600" b="1" dirty="0">
              <a:solidFill>
                <a:srgbClr val="2C5F2D"/>
              </a:solidFill>
              <a:latin typeface="Calibri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187324C-6BDB-CBEC-D914-3214D2B2D3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1" y="136908"/>
            <a:ext cx="1958825" cy="116654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D8D191-E204-8D25-190A-B539717EC9F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36908"/>
            <a:ext cx="1286053" cy="58764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58F7EBA-B811-74A0-F004-0104691DDD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52" y="6084086"/>
            <a:ext cx="3552496" cy="7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578</Words>
  <Application>Microsoft Office PowerPoint</Application>
  <PresentationFormat>Ecrã Panorâmico</PresentationFormat>
  <Paragraphs>80</Paragraphs>
  <Slides>11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do Office</vt:lpstr>
      <vt:lpstr>STC2 - Sistemas Ambientais</vt:lpstr>
      <vt:lpstr>Módulo 6 –  Problemas ambientais e impactos</vt:lpstr>
      <vt:lpstr>Objetivos de aprendizagem</vt:lpstr>
      <vt:lpstr>Relação entre ambiente e qualidade de vida</vt:lpstr>
      <vt:lpstr>Apresentação do PowerPoint</vt:lpstr>
      <vt:lpstr>O que prejudica a qualidade de vida</vt:lpstr>
      <vt:lpstr>Ambiente e saúde mental</vt:lpstr>
      <vt:lpstr>Ambiente e trabalho</vt:lpstr>
      <vt:lpstr>Ambiente e comunidade</vt:lpstr>
      <vt:lpstr>Melhorar a qualidade de vida</vt:lpstr>
      <vt:lpstr>Fontes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ROSARIO LEOTE</dc:creator>
  <cp:lastModifiedBy>ROSARIO LEOTE</cp:lastModifiedBy>
  <cp:revision>15</cp:revision>
  <dcterms:created xsi:type="dcterms:W3CDTF">2026-05-07T16:07:26Z</dcterms:created>
  <dcterms:modified xsi:type="dcterms:W3CDTF">2026-05-17T13:17:53Z</dcterms:modified>
</cp:coreProperties>
</file>